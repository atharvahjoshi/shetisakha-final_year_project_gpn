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7" r:id="rId2"/>
    <p:sldId id="256" r:id="rId3"/>
    <p:sldId id="257" r:id="rId4"/>
    <p:sldId id="258" r:id="rId5"/>
    <p:sldId id="259" r:id="rId6"/>
    <p:sldId id="266" r:id="rId7"/>
    <p:sldId id="260" r:id="rId8"/>
    <p:sldId id="261" r:id="rId9"/>
    <p:sldId id="262" r:id="rId10"/>
    <p:sldId id="263" r:id="rId11"/>
    <p:sldId id="264" r:id="rId12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1" d="100"/>
          <a:sy n="51" d="100"/>
        </p:scale>
        <p:origin x="475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0916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7731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8701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hyperlink" Target="https://gamma.app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hyperlink" Target="https://gamma.app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amma.app" TargetMode="Externa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microsoft.com/office/2007/relationships/media" Target="../media/media2.mp4"/><Relationship Id="rId7" Type="http://schemas.openxmlformats.org/officeDocument/2006/relationships/hyperlink" Target="https://gamma.app" TargetMode="Externa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notesSlide" Target="../notesSlides/notesSlide6.xml"/><Relationship Id="rId11" Type="http://schemas.openxmlformats.org/officeDocument/2006/relationships/image" Target="../media/image10.png"/><Relationship Id="rId5" Type="http://schemas.openxmlformats.org/officeDocument/2006/relationships/slideLayout" Target="../slideLayouts/slideLayout1.xml"/><Relationship Id="rId10" Type="http://schemas.openxmlformats.org/officeDocument/2006/relationships/image" Target="../media/image9.png"/><Relationship Id="rId4" Type="http://schemas.openxmlformats.org/officeDocument/2006/relationships/video" Target="../media/media2.mp4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hyperlink" Target="https://gamma.app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amma.app" TargetMode="Externa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169088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Text 2"/>
          <p:cNvSpPr/>
          <p:nvPr/>
        </p:nvSpPr>
        <p:spPr>
          <a:xfrm>
            <a:off x="6371630" y="1690193"/>
            <a:ext cx="7373541" cy="11717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4647"/>
              </a:lnSpc>
              <a:buNone/>
            </a:pPr>
            <a:endParaRPr lang="en-US" sz="3718" dirty="0"/>
          </a:p>
        </p:txBody>
      </p:sp>
      <p:sp>
        <p:nvSpPr>
          <p:cNvPr id="5" name="Text 3"/>
          <p:cNvSpPr/>
          <p:nvPr/>
        </p:nvSpPr>
        <p:spPr>
          <a:xfrm>
            <a:off x="6070416" y="1187420"/>
            <a:ext cx="8366347" cy="87637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905"/>
              </a:lnSpc>
              <a:buNone/>
            </a:pPr>
            <a:r>
              <a:rPr lang="en-US" sz="3200" b="1" dirty="0">
                <a:latin typeface="Felix Titling" panose="04060505060202020A04" pitchFamily="82" charset="0"/>
              </a:rPr>
              <a:t>MULTI PURPOSE AGRICULTURE MACHINE</a:t>
            </a:r>
          </a:p>
        </p:txBody>
      </p:sp>
      <p:sp>
        <p:nvSpPr>
          <p:cNvPr id="6" name="Text 4"/>
          <p:cNvSpPr/>
          <p:nvPr/>
        </p:nvSpPr>
        <p:spPr>
          <a:xfrm>
            <a:off x="6371630" y="3813778"/>
            <a:ext cx="7373541" cy="37488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974"/>
              </a:lnSpc>
              <a:buNone/>
            </a:pP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371629" y="4798914"/>
            <a:ext cx="7373541" cy="74977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974"/>
              </a:lnSpc>
              <a:buNone/>
            </a:pP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371630" y="5465560"/>
            <a:ext cx="7373541" cy="37488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974"/>
              </a:lnSpc>
              <a:buNone/>
            </a:pPr>
            <a:endParaRPr lang="en-US" sz="1859" dirty="0"/>
          </a:p>
        </p:txBody>
      </p:sp>
      <p:sp>
        <p:nvSpPr>
          <p:cNvPr id="9" name="Text 7"/>
          <p:cNvSpPr/>
          <p:nvPr/>
        </p:nvSpPr>
        <p:spPr>
          <a:xfrm>
            <a:off x="6371630" y="6104006"/>
            <a:ext cx="7373541" cy="37488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974"/>
              </a:lnSpc>
              <a:buNone/>
            </a:pPr>
            <a:endParaRPr lang="en-US" sz="1859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169088"/>
          </a:xfrm>
          <a:prstGeom prst="rect">
            <a:avLst/>
          </a:prstGeom>
        </p:spPr>
      </p:pic>
      <p:pic>
        <p:nvPicPr>
          <p:cNvPr id="11" name="Image 1" descr="preencoded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10B4B56-B558-4FA3-BF19-7A122ED39C0F}"/>
              </a:ext>
            </a:extLst>
          </p:cNvPr>
          <p:cNvSpPr txBox="1"/>
          <p:nvPr/>
        </p:nvSpPr>
        <p:spPr>
          <a:xfrm>
            <a:off x="8210772" y="2782379"/>
            <a:ext cx="416321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Group Number: </a:t>
            </a:r>
            <a:r>
              <a:rPr lang="en-IN" b="1" dirty="0"/>
              <a:t>03</a:t>
            </a:r>
          </a:p>
          <a:p>
            <a:endParaRPr lang="en-IN" dirty="0"/>
          </a:p>
          <a:p>
            <a:r>
              <a:rPr lang="en-IN" dirty="0"/>
              <a:t>Group Member:</a:t>
            </a:r>
          </a:p>
          <a:p>
            <a:endParaRPr lang="en-IN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217022 Atharva Joshi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2107006 </a:t>
            </a:r>
            <a:r>
              <a:rPr lang="en-IN" dirty="0" err="1"/>
              <a:t>Manashri</a:t>
            </a:r>
            <a:r>
              <a:rPr lang="en-IN" dirty="0"/>
              <a:t> Atkar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2107015 Gargi </a:t>
            </a:r>
            <a:r>
              <a:rPr lang="en-IN" dirty="0" err="1"/>
              <a:t>Gamote</a:t>
            </a:r>
            <a:endParaRPr lang="en-IN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2107059 Abhishek Shukla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2107034 Mohit </a:t>
            </a:r>
            <a:r>
              <a:rPr lang="en-IN" dirty="0" err="1"/>
              <a:t>Nagarkar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155A71-809E-4FE4-9448-F6704F055939}"/>
              </a:ext>
            </a:extLst>
          </p:cNvPr>
          <p:cNvSpPr txBox="1"/>
          <p:nvPr/>
        </p:nvSpPr>
        <p:spPr>
          <a:xfrm>
            <a:off x="8052096" y="5854327"/>
            <a:ext cx="4480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dirty="0"/>
              <a:t>Under the Guidance of : </a:t>
            </a:r>
            <a:r>
              <a:rPr lang="en-IN" u="sng" dirty="0"/>
              <a:t>L.D. </a:t>
            </a:r>
            <a:r>
              <a:rPr lang="en-IN" u="sng" dirty="0" err="1"/>
              <a:t>Vilhekar</a:t>
            </a:r>
            <a:r>
              <a:rPr lang="en-IN" u="sng" dirty="0"/>
              <a:t> Sir</a:t>
            </a:r>
          </a:p>
          <a:p>
            <a:pPr algn="just"/>
            <a:r>
              <a:rPr lang="en-IN" dirty="0"/>
              <a:t>Co- Guide</a:t>
            </a:r>
            <a:r>
              <a:rPr lang="en-IN" u="sng" dirty="0"/>
              <a:t>:  </a:t>
            </a:r>
            <a:r>
              <a:rPr lang="en-IN" u="sng" dirty="0" err="1"/>
              <a:t>Priti</a:t>
            </a:r>
            <a:r>
              <a:rPr lang="en-IN" u="sng" dirty="0"/>
              <a:t> </a:t>
            </a:r>
            <a:r>
              <a:rPr lang="en-IN" u="sng" dirty="0" err="1"/>
              <a:t>Saktel</a:t>
            </a:r>
            <a:r>
              <a:rPr lang="en-IN" u="sng" dirty="0"/>
              <a:t> Ma’am</a:t>
            </a:r>
          </a:p>
        </p:txBody>
      </p:sp>
    </p:spTree>
    <p:extLst>
      <p:ext uri="{BB962C8B-B14F-4D97-AF65-F5344CB8AC3E}">
        <p14:creationId xmlns:p14="http://schemas.microsoft.com/office/powerpoint/2010/main" val="600440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169088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sp>
        <p:nvSpPr>
          <p:cNvPr id="4" name="Text 2"/>
          <p:cNvSpPr/>
          <p:nvPr/>
        </p:nvSpPr>
        <p:spPr>
          <a:xfrm>
            <a:off x="6371630" y="1251955"/>
            <a:ext cx="7373541" cy="35153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6971"/>
              </a:lnSpc>
              <a:buNone/>
            </a:pPr>
            <a:r>
              <a:rPr lang="en-US" sz="5577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Revolutionizing Agriculture with Multipurpose Machines</a:t>
            </a:r>
            <a:endParaRPr lang="en-US" sz="5577" dirty="0"/>
          </a:p>
        </p:txBody>
      </p:sp>
      <p:sp>
        <p:nvSpPr>
          <p:cNvPr id="5" name="Text 3"/>
          <p:cNvSpPr/>
          <p:nvPr/>
        </p:nvSpPr>
        <p:spPr>
          <a:xfrm>
            <a:off x="6371629" y="4767310"/>
            <a:ext cx="7373541" cy="11246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974"/>
              </a:lnSpc>
              <a:buNone/>
            </a:pPr>
            <a:r>
              <a:rPr lang="en-US" sz="24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Discover the ultimate solution to automate agriculture with our multipurpose machine. Advanced features and software applications make farming quicker and more efficient.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507123" y="6530543"/>
            <a:ext cx="106680" cy="36307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880"/>
              </a:lnSpc>
              <a:buNone/>
            </a:pPr>
            <a:endParaRPr lang="en-US" sz="1152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1690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169088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sp>
        <p:nvSpPr>
          <p:cNvPr id="4" name="Text 2"/>
          <p:cNvSpPr/>
          <p:nvPr/>
        </p:nvSpPr>
        <p:spPr>
          <a:xfrm>
            <a:off x="6371630" y="1690193"/>
            <a:ext cx="7373541" cy="11717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4647"/>
              </a:lnSpc>
              <a:buNone/>
            </a:pPr>
            <a:r>
              <a:rPr lang="en-US" sz="3718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Multipurpose Agriculture Machine: An Overview</a:t>
            </a:r>
            <a:endParaRPr lang="en-US" sz="3718" dirty="0"/>
          </a:p>
        </p:txBody>
      </p:sp>
      <p:sp>
        <p:nvSpPr>
          <p:cNvPr id="5" name="Text 3"/>
          <p:cNvSpPr/>
          <p:nvPr/>
        </p:nvSpPr>
        <p:spPr>
          <a:xfrm>
            <a:off x="6371630" y="3096146"/>
            <a:ext cx="2360771" cy="36614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905"/>
              </a:lnSpc>
              <a:buNone/>
            </a:pPr>
            <a:r>
              <a:rPr lang="en-US" sz="2324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What is it?</a:t>
            </a:r>
            <a:endParaRPr lang="en-US" sz="2324" dirty="0"/>
          </a:p>
        </p:txBody>
      </p:sp>
      <p:sp>
        <p:nvSpPr>
          <p:cNvPr id="6" name="Text 4"/>
          <p:cNvSpPr/>
          <p:nvPr/>
        </p:nvSpPr>
        <p:spPr>
          <a:xfrm>
            <a:off x="6371630" y="3813778"/>
            <a:ext cx="7373541" cy="37488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974"/>
              </a:lnSpc>
              <a:buNone/>
            </a:pPr>
            <a:r>
              <a:rPr lang="en-US" sz="24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Our machine is designed to perform multiple tasks in </a:t>
            </a:r>
          </a:p>
          <a:p>
            <a:pPr marL="0" indent="0">
              <a:lnSpc>
                <a:spcPts val="2974"/>
              </a:lnSpc>
              <a:buNone/>
            </a:pPr>
            <a:r>
              <a:rPr lang="en-US" sz="24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 single run.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371629" y="4798914"/>
            <a:ext cx="7373541" cy="74977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974"/>
              </a:lnSpc>
              <a:buNone/>
            </a:pPr>
            <a:r>
              <a:rPr lang="en-US" sz="24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It can sow seeds, fertilize the land, and even sprinkle water  while minimizing human intervention.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371630" y="5465560"/>
            <a:ext cx="7373541" cy="37488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974"/>
              </a:lnSpc>
              <a:buNone/>
            </a:pPr>
            <a:endParaRPr lang="en-US" sz="1859" dirty="0"/>
          </a:p>
        </p:txBody>
      </p:sp>
      <p:sp>
        <p:nvSpPr>
          <p:cNvPr id="9" name="Text 7"/>
          <p:cNvSpPr/>
          <p:nvPr/>
        </p:nvSpPr>
        <p:spPr>
          <a:xfrm>
            <a:off x="6371630" y="6104006"/>
            <a:ext cx="7373541" cy="37488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974"/>
              </a:lnSpc>
              <a:buNone/>
            </a:pPr>
            <a:endParaRPr lang="en-US" sz="1859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169088"/>
          </a:xfrm>
          <a:prstGeom prst="rect">
            <a:avLst/>
          </a:prstGeom>
        </p:spPr>
      </p:pic>
      <p:pic>
        <p:nvPicPr>
          <p:cNvPr id="11" name="Image 1" descr="preencoded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169088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1690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85230" y="1685702"/>
            <a:ext cx="7373541" cy="21968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5809"/>
              </a:lnSpc>
              <a:buNone/>
            </a:pPr>
            <a:r>
              <a:rPr lang="en-US" sz="4647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Need of a Multipurpose Agriculture Machine</a:t>
            </a:r>
            <a:endParaRPr lang="en-US" sz="4647" dirty="0"/>
          </a:p>
        </p:txBody>
      </p:sp>
      <p:sp>
        <p:nvSpPr>
          <p:cNvPr id="6" name="Text 3"/>
          <p:cNvSpPr/>
          <p:nvPr/>
        </p:nvSpPr>
        <p:spPr>
          <a:xfrm>
            <a:off x="1262896" y="6199394"/>
            <a:ext cx="6995874" cy="37488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342900" indent="-342900" algn="l">
              <a:lnSpc>
                <a:spcPts val="2974"/>
              </a:lnSpc>
              <a:buSzPct val="100000"/>
              <a:buChar char="•"/>
            </a:pPr>
            <a:r>
              <a:rPr lang="en-US" sz="24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Reduction of manual labour work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262896" y="6812338"/>
            <a:ext cx="6995874" cy="37488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342900" indent="-342900" algn="l">
              <a:lnSpc>
                <a:spcPts val="2974"/>
              </a:lnSpc>
              <a:buSzPct val="100000"/>
              <a:buChar char="•"/>
            </a:pPr>
            <a:r>
              <a:rPr lang="en-US" sz="24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Multipurpose 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262896" y="4353219"/>
            <a:ext cx="6995874" cy="37488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342900" indent="-342900" algn="l">
              <a:lnSpc>
                <a:spcPts val="2974"/>
              </a:lnSpc>
              <a:buSzPct val="100000"/>
              <a:buChar char="•"/>
            </a:pPr>
            <a:r>
              <a:rPr lang="en-US" sz="24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 step toward Agriculture automation.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262897" y="4954220"/>
            <a:ext cx="6995874" cy="37488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342900" indent="-342900" algn="l">
              <a:lnSpc>
                <a:spcPts val="2974"/>
              </a:lnSpc>
              <a:buSzPct val="100000"/>
              <a:buChar char="•"/>
            </a:pPr>
            <a:r>
              <a:rPr lang="en-US" sz="24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Self navigation machine 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262897" y="5576807"/>
            <a:ext cx="6995874" cy="37488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342900" indent="-342900" algn="l">
              <a:lnSpc>
                <a:spcPts val="2974"/>
              </a:lnSpc>
              <a:buSzPct val="100000"/>
              <a:buChar char="•"/>
            </a:pPr>
            <a:r>
              <a:rPr lang="en-US" sz="24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Referred from ADAS system 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169088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sp>
        <p:nvSpPr>
          <p:cNvPr id="4" name="Text 2"/>
          <p:cNvSpPr/>
          <p:nvPr/>
        </p:nvSpPr>
        <p:spPr>
          <a:xfrm>
            <a:off x="885230" y="1542223"/>
            <a:ext cx="9966960" cy="73228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809"/>
              </a:lnSpc>
              <a:buNone/>
            </a:pPr>
            <a:r>
              <a:rPr lang="en-US" sz="4647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Features of the Software Application</a:t>
            </a:r>
            <a:endParaRPr lang="en-US" sz="4647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230" y="2743121"/>
            <a:ext cx="2430304" cy="14909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85230" y="4526918"/>
            <a:ext cx="2360771" cy="36614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905"/>
              </a:lnSpc>
              <a:buNone/>
            </a:pPr>
            <a:r>
              <a:rPr lang="en-US" sz="2324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Customizable</a:t>
            </a:r>
            <a:endParaRPr lang="en-US" sz="2324" dirty="0"/>
          </a:p>
        </p:txBody>
      </p:sp>
      <p:sp>
        <p:nvSpPr>
          <p:cNvPr id="7" name="Text 4"/>
          <p:cNvSpPr/>
          <p:nvPr/>
        </p:nvSpPr>
        <p:spPr>
          <a:xfrm>
            <a:off x="885230" y="5127308"/>
            <a:ext cx="4050506" cy="149955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974"/>
              </a:lnSpc>
              <a:buNone/>
            </a:pPr>
            <a:r>
              <a:rPr lang="en-US" sz="1859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The software applications are customizable based on the farm's needs, ensuring optimal performance and output.</a:t>
            </a:r>
            <a:endParaRPr lang="en-US" sz="1859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9828" y="2743121"/>
            <a:ext cx="2430304" cy="14909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89828" y="4526918"/>
            <a:ext cx="2360771" cy="36614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905"/>
              </a:lnSpc>
              <a:buNone/>
            </a:pPr>
            <a:r>
              <a:rPr lang="en-US" sz="2324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User-friendly</a:t>
            </a:r>
            <a:endParaRPr lang="en-US" sz="2324" dirty="0"/>
          </a:p>
        </p:txBody>
      </p:sp>
      <p:sp>
        <p:nvSpPr>
          <p:cNvPr id="10" name="Text 6"/>
          <p:cNvSpPr/>
          <p:nvPr/>
        </p:nvSpPr>
        <p:spPr>
          <a:xfrm>
            <a:off x="5289828" y="5127308"/>
            <a:ext cx="4050625" cy="11246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974"/>
              </a:lnSpc>
              <a:buNone/>
            </a:pPr>
            <a:r>
              <a:rPr lang="en-US" sz="1859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The interfaces are designed to be user-friendly, allowing the farmer to control the machine with ease.</a:t>
            </a:r>
            <a:endParaRPr lang="en-US" sz="1859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4545" y="2743121"/>
            <a:ext cx="2430304" cy="149093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94545" y="4526918"/>
            <a:ext cx="2360771" cy="36614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905"/>
              </a:lnSpc>
              <a:buNone/>
            </a:pPr>
            <a:r>
              <a:rPr lang="en-US" sz="2324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Remote Control</a:t>
            </a:r>
            <a:endParaRPr lang="en-US" sz="2324" dirty="0"/>
          </a:p>
        </p:txBody>
      </p:sp>
      <p:sp>
        <p:nvSpPr>
          <p:cNvPr id="13" name="Text 8"/>
          <p:cNvSpPr/>
          <p:nvPr/>
        </p:nvSpPr>
        <p:spPr>
          <a:xfrm>
            <a:off x="9694545" y="5127308"/>
            <a:ext cx="4050625" cy="149955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974"/>
              </a:lnSpc>
              <a:buNone/>
            </a:pPr>
            <a:r>
              <a:rPr lang="en-US" sz="1859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The machine can even be controlled remotely, allowing the farmer to monitor its activities from a distance using the software application.</a:t>
            </a:r>
            <a:endParaRPr lang="en-US" sz="1859" dirty="0"/>
          </a:p>
        </p:txBody>
      </p:sp>
      <p:pic>
        <p:nvPicPr>
          <p:cNvPr id="14" name="Image 3" descr="preencoded.png">
            <a:hlinkClick r:id="rId6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169088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399" cy="8304903"/>
          </a:xfrm>
          <a:prstGeom prst="rect">
            <a:avLst/>
          </a:prstGeom>
          <a:solidFill>
            <a:srgbClr val="FEF5E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Text 2"/>
          <p:cNvSpPr/>
          <p:nvPr/>
        </p:nvSpPr>
        <p:spPr>
          <a:xfrm>
            <a:off x="885230" y="1542223"/>
            <a:ext cx="9966960" cy="73228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809"/>
              </a:lnSpc>
              <a:buNone/>
            </a:pPr>
            <a:endParaRPr lang="en-US" sz="4647" dirty="0"/>
          </a:p>
        </p:txBody>
      </p:sp>
      <p:sp>
        <p:nvSpPr>
          <p:cNvPr id="6" name="Text 3"/>
          <p:cNvSpPr/>
          <p:nvPr/>
        </p:nvSpPr>
        <p:spPr>
          <a:xfrm>
            <a:off x="885230" y="4526918"/>
            <a:ext cx="2360771" cy="36614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905"/>
              </a:lnSpc>
              <a:buNone/>
            </a:pPr>
            <a:endParaRPr lang="en-US" sz="2324" dirty="0"/>
          </a:p>
        </p:txBody>
      </p:sp>
      <p:sp>
        <p:nvSpPr>
          <p:cNvPr id="7" name="Text 4"/>
          <p:cNvSpPr/>
          <p:nvPr/>
        </p:nvSpPr>
        <p:spPr>
          <a:xfrm>
            <a:off x="885230" y="5127308"/>
            <a:ext cx="4050506" cy="149955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974"/>
              </a:lnSpc>
              <a:buNone/>
            </a:pPr>
            <a:endParaRPr lang="en-US" sz="1859" dirty="0"/>
          </a:p>
        </p:txBody>
      </p:sp>
      <p:sp>
        <p:nvSpPr>
          <p:cNvPr id="9" name="Text 5"/>
          <p:cNvSpPr/>
          <p:nvPr/>
        </p:nvSpPr>
        <p:spPr>
          <a:xfrm>
            <a:off x="5289828" y="4526918"/>
            <a:ext cx="2360771" cy="36614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905"/>
              </a:lnSpc>
              <a:buNone/>
            </a:pPr>
            <a:endParaRPr lang="en-US" sz="2324" dirty="0"/>
          </a:p>
        </p:txBody>
      </p:sp>
      <p:sp>
        <p:nvSpPr>
          <p:cNvPr id="10" name="Text 6"/>
          <p:cNvSpPr/>
          <p:nvPr/>
        </p:nvSpPr>
        <p:spPr>
          <a:xfrm>
            <a:off x="5289828" y="5127308"/>
            <a:ext cx="4050625" cy="11246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974"/>
              </a:lnSpc>
              <a:buNone/>
            </a:pPr>
            <a:endParaRPr lang="en-US" sz="1859" dirty="0"/>
          </a:p>
        </p:txBody>
      </p:sp>
      <p:sp>
        <p:nvSpPr>
          <p:cNvPr id="12" name="Text 7"/>
          <p:cNvSpPr/>
          <p:nvPr/>
        </p:nvSpPr>
        <p:spPr>
          <a:xfrm>
            <a:off x="9694545" y="4526918"/>
            <a:ext cx="2360771" cy="36614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905"/>
              </a:lnSpc>
              <a:buNone/>
            </a:pPr>
            <a:endParaRPr lang="en-US" sz="2324" dirty="0"/>
          </a:p>
        </p:txBody>
      </p:sp>
      <p:sp>
        <p:nvSpPr>
          <p:cNvPr id="13" name="Text 8"/>
          <p:cNvSpPr/>
          <p:nvPr/>
        </p:nvSpPr>
        <p:spPr>
          <a:xfrm>
            <a:off x="9694545" y="5127308"/>
            <a:ext cx="4050625" cy="149955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974"/>
              </a:lnSpc>
              <a:buNone/>
            </a:pPr>
            <a:endParaRPr lang="en-US" sz="1859" dirty="0"/>
          </a:p>
        </p:txBody>
      </p:sp>
      <p:pic>
        <p:nvPicPr>
          <p:cNvPr id="14" name="Image 3" descr="preencoded.png">
            <a:hlinkClick r:id="rId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  <p:pic>
        <p:nvPicPr>
          <p:cNvPr id="15" name="VID_56941010_003041_080">
            <a:hlinkClick r:id="" action="ppaction://media"/>
            <a:extLst>
              <a:ext uri="{FF2B5EF4-FFF2-40B4-BE49-F238E27FC236}">
                <a16:creationId xmlns:a16="http://schemas.microsoft.com/office/drawing/2014/main" id="{D9620FFF-CA45-4E2C-8075-1D67806CE87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4495800" y="1694530"/>
            <a:ext cx="2563563" cy="455744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6" name="VID_57160810_094727_164">
            <a:hlinkClick r:id="" action="ppaction://media"/>
            <a:extLst>
              <a:ext uri="{FF2B5EF4-FFF2-40B4-BE49-F238E27FC236}">
                <a16:creationId xmlns:a16="http://schemas.microsoft.com/office/drawing/2014/main" id="{18452364-5283-4392-A3C4-F2182F1140A6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531138" y="1692747"/>
            <a:ext cx="2562980" cy="455641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26" name="Picture 2" descr="Design driving scenarios, configure sensors, and generate synthetic ...">
            <a:extLst>
              <a:ext uri="{FF2B5EF4-FFF2-40B4-BE49-F238E27FC236}">
                <a16:creationId xmlns:a16="http://schemas.microsoft.com/office/drawing/2014/main" id="{C5927C0D-7990-4BB1-94CE-2D3A575D0B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7471" y="1616075"/>
            <a:ext cx="5923531" cy="4709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9BA6659-53B3-4773-A346-27D97D6C08AE}"/>
              </a:ext>
            </a:extLst>
          </p:cNvPr>
          <p:cNvSpPr txBox="1"/>
          <p:nvPr/>
        </p:nvSpPr>
        <p:spPr>
          <a:xfrm>
            <a:off x="885230" y="570155"/>
            <a:ext cx="76886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6">
                    <a:lumMod val="75000"/>
                  </a:schemeClr>
                </a:solidFill>
                <a:latin typeface="Bahnschrift Condensed" panose="020B0502040204020203" pitchFamily="34" charset="0"/>
              </a:rPr>
              <a:t>How the SOFTWARE will work?</a:t>
            </a:r>
          </a:p>
        </p:txBody>
      </p:sp>
    </p:spTree>
    <p:extLst>
      <p:ext uri="{BB962C8B-B14F-4D97-AF65-F5344CB8AC3E}">
        <p14:creationId xmlns:p14="http://schemas.microsoft.com/office/powerpoint/2010/main" val="288949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534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2867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169088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sp>
        <p:nvSpPr>
          <p:cNvPr id="4" name="Text 2"/>
          <p:cNvSpPr/>
          <p:nvPr/>
        </p:nvSpPr>
        <p:spPr>
          <a:xfrm>
            <a:off x="885230" y="2199815"/>
            <a:ext cx="4721662" cy="73228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809"/>
              </a:lnSpc>
              <a:buNone/>
            </a:pPr>
            <a:r>
              <a:rPr lang="en-US" sz="4647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Lane Navigation</a:t>
            </a:r>
            <a:endParaRPr lang="en-US" sz="4647" dirty="0"/>
          </a:p>
        </p:txBody>
      </p:sp>
      <p:sp>
        <p:nvSpPr>
          <p:cNvPr id="5" name="Shape 3"/>
          <p:cNvSpPr/>
          <p:nvPr/>
        </p:nvSpPr>
        <p:spPr>
          <a:xfrm>
            <a:off x="885230" y="3400714"/>
            <a:ext cx="4129326" cy="2568441"/>
          </a:xfrm>
          <a:prstGeom prst="roundRect">
            <a:avLst>
              <a:gd name="adj" fmla="val 2758"/>
            </a:avLst>
          </a:prstGeom>
          <a:solidFill>
            <a:srgbClr val="F6E9D5"/>
          </a:solidFill>
          <a:ln/>
        </p:spPr>
      </p:sp>
      <p:sp>
        <p:nvSpPr>
          <p:cNvPr id="6" name="Text 4"/>
          <p:cNvSpPr/>
          <p:nvPr/>
        </p:nvSpPr>
        <p:spPr>
          <a:xfrm>
            <a:off x="1121212" y="3634961"/>
            <a:ext cx="2360771" cy="36614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905"/>
              </a:lnSpc>
              <a:buNone/>
            </a:pPr>
            <a:r>
              <a:rPr lang="en-US" sz="2324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What is it?</a:t>
            </a:r>
            <a:endParaRPr lang="en-US" sz="2324" dirty="0"/>
          </a:p>
        </p:txBody>
      </p:sp>
      <p:sp>
        <p:nvSpPr>
          <p:cNvPr id="7" name="Text 5"/>
          <p:cNvSpPr/>
          <p:nvPr/>
        </p:nvSpPr>
        <p:spPr>
          <a:xfrm>
            <a:off x="1121212" y="4235351"/>
            <a:ext cx="3657362" cy="11246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974"/>
              </a:lnSpc>
              <a:buNone/>
            </a:pPr>
            <a:r>
              <a:rPr lang="en-US" sz="1859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 concept allowing the machine to navigate its way around the farm in a pre-defined lane.</a:t>
            </a:r>
            <a:endParaRPr lang="en-US" sz="1859" dirty="0"/>
          </a:p>
        </p:txBody>
      </p:sp>
      <p:sp>
        <p:nvSpPr>
          <p:cNvPr id="8" name="Shape 6"/>
          <p:cNvSpPr/>
          <p:nvPr/>
        </p:nvSpPr>
        <p:spPr>
          <a:xfrm>
            <a:off x="5250537" y="3400714"/>
            <a:ext cx="4129326" cy="2568441"/>
          </a:xfrm>
          <a:prstGeom prst="roundRect">
            <a:avLst>
              <a:gd name="adj" fmla="val 2758"/>
            </a:avLst>
          </a:prstGeom>
          <a:solidFill>
            <a:srgbClr val="F6E9D5"/>
          </a:solidFill>
          <a:ln/>
        </p:spPr>
      </p:sp>
      <p:sp>
        <p:nvSpPr>
          <p:cNvPr id="9" name="Text 7"/>
          <p:cNvSpPr/>
          <p:nvPr/>
        </p:nvSpPr>
        <p:spPr>
          <a:xfrm>
            <a:off x="5486519" y="3634961"/>
            <a:ext cx="2552700" cy="36614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905"/>
              </a:lnSpc>
              <a:buNone/>
            </a:pPr>
            <a:r>
              <a:rPr lang="en-US" sz="2324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How does it work?</a:t>
            </a:r>
            <a:endParaRPr lang="en-US" sz="2324" dirty="0"/>
          </a:p>
        </p:txBody>
      </p:sp>
      <p:sp>
        <p:nvSpPr>
          <p:cNvPr id="10" name="Text 8"/>
          <p:cNvSpPr/>
          <p:nvPr/>
        </p:nvSpPr>
        <p:spPr>
          <a:xfrm>
            <a:off x="5486519" y="4235351"/>
            <a:ext cx="3657362" cy="11246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974"/>
              </a:lnSpc>
              <a:buNone/>
            </a:pPr>
            <a:r>
              <a:rPr lang="en-US" sz="1859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The machine uses GPS systems and sensors to identify the lane and follow it.</a:t>
            </a:r>
            <a:endParaRPr lang="en-US" sz="1859" dirty="0"/>
          </a:p>
        </p:txBody>
      </p:sp>
      <p:sp>
        <p:nvSpPr>
          <p:cNvPr id="11" name="Shape 9"/>
          <p:cNvSpPr/>
          <p:nvPr/>
        </p:nvSpPr>
        <p:spPr>
          <a:xfrm>
            <a:off x="9615845" y="3400714"/>
            <a:ext cx="4129326" cy="2568441"/>
          </a:xfrm>
          <a:prstGeom prst="roundRect">
            <a:avLst>
              <a:gd name="adj" fmla="val 2758"/>
            </a:avLst>
          </a:prstGeom>
          <a:solidFill>
            <a:srgbClr val="F6E9D5"/>
          </a:solidFill>
          <a:ln/>
        </p:spPr>
      </p:sp>
      <p:sp>
        <p:nvSpPr>
          <p:cNvPr id="12" name="Text 10"/>
          <p:cNvSpPr/>
          <p:nvPr/>
        </p:nvSpPr>
        <p:spPr>
          <a:xfrm>
            <a:off x="9851827" y="3634961"/>
            <a:ext cx="2819400" cy="36614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905"/>
              </a:lnSpc>
              <a:buNone/>
            </a:pPr>
            <a:r>
              <a:rPr lang="en-US" sz="2324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Why is it important?</a:t>
            </a:r>
            <a:endParaRPr lang="en-US" sz="2324" dirty="0"/>
          </a:p>
        </p:txBody>
      </p:sp>
      <p:sp>
        <p:nvSpPr>
          <p:cNvPr id="13" name="Text 11"/>
          <p:cNvSpPr/>
          <p:nvPr/>
        </p:nvSpPr>
        <p:spPr>
          <a:xfrm>
            <a:off x="9851827" y="4235351"/>
            <a:ext cx="3657362" cy="149955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974"/>
              </a:lnSpc>
              <a:buNone/>
            </a:pPr>
            <a:r>
              <a:rPr lang="en-US" sz="1859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It increases efficiency by making sure the machine follows the same path, minimizing errors and optimizing output.</a:t>
            </a:r>
            <a:endParaRPr lang="en-US" sz="1859" dirty="0"/>
          </a:p>
        </p:txBody>
      </p:sp>
      <p:pic>
        <p:nvPicPr>
          <p:cNvPr id="14" name="Image 0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169088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sp>
        <p:nvSpPr>
          <p:cNvPr id="4" name="Text 2"/>
          <p:cNvSpPr/>
          <p:nvPr/>
        </p:nvSpPr>
        <p:spPr>
          <a:xfrm>
            <a:off x="831413" y="605236"/>
            <a:ext cx="5273040" cy="68761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56"/>
              </a:lnSpc>
              <a:buNone/>
            </a:pPr>
            <a:r>
              <a:rPr lang="en-US" sz="4364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Benefits for Farmers</a:t>
            </a:r>
            <a:endParaRPr lang="en-US" sz="4364" dirty="0"/>
          </a:p>
        </p:txBody>
      </p:sp>
      <p:sp>
        <p:nvSpPr>
          <p:cNvPr id="5" name="Shape 3"/>
          <p:cNvSpPr/>
          <p:nvPr/>
        </p:nvSpPr>
        <p:spPr>
          <a:xfrm>
            <a:off x="7307580" y="1732977"/>
            <a:ext cx="15240" cy="5832176"/>
          </a:xfrm>
          <a:prstGeom prst="rect">
            <a:avLst/>
          </a:prstGeom>
          <a:solidFill>
            <a:srgbClr val="38512F"/>
          </a:solidFill>
          <a:ln/>
        </p:spPr>
      </p:sp>
      <p:sp>
        <p:nvSpPr>
          <p:cNvPr id="6" name="Shape 4"/>
          <p:cNvSpPr/>
          <p:nvPr/>
        </p:nvSpPr>
        <p:spPr>
          <a:xfrm>
            <a:off x="7564576" y="2144740"/>
            <a:ext cx="775930" cy="15128"/>
          </a:xfrm>
          <a:prstGeom prst="rect">
            <a:avLst/>
          </a:prstGeom>
          <a:solidFill>
            <a:srgbClr val="38512F"/>
          </a:solidFill>
          <a:ln/>
        </p:spPr>
      </p:sp>
      <p:sp>
        <p:nvSpPr>
          <p:cNvPr id="7" name="Shape 5"/>
          <p:cNvSpPr/>
          <p:nvPr/>
        </p:nvSpPr>
        <p:spPr>
          <a:xfrm>
            <a:off x="7065824" y="1904821"/>
            <a:ext cx="498753" cy="495086"/>
          </a:xfrm>
          <a:prstGeom prst="roundRect">
            <a:avLst>
              <a:gd name="adj" fmla="val 13435"/>
            </a:avLst>
          </a:prstGeom>
          <a:solidFill>
            <a:srgbClr val="F6E9D5"/>
          </a:solidFill>
          <a:ln/>
        </p:spPr>
      </p:sp>
      <p:sp>
        <p:nvSpPr>
          <p:cNvPr id="8" name="Text 6"/>
          <p:cNvSpPr/>
          <p:nvPr/>
        </p:nvSpPr>
        <p:spPr>
          <a:xfrm>
            <a:off x="7254180" y="1946068"/>
            <a:ext cx="121920" cy="41259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73"/>
              </a:lnSpc>
              <a:buNone/>
            </a:pPr>
            <a:r>
              <a:rPr lang="en-US" sz="2619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2619" dirty="0"/>
          </a:p>
        </p:txBody>
      </p:sp>
      <p:sp>
        <p:nvSpPr>
          <p:cNvPr id="9" name="Text 7"/>
          <p:cNvSpPr/>
          <p:nvPr/>
        </p:nvSpPr>
        <p:spPr>
          <a:xfrm>
            <a:off x="8534638" y="1953041"/>
            <a:ext cx="2834640" cy="34392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28"/>
              </a:lnSpc>
              <a:buNone/>
            </a:pPr>
            <a:r>
              <a:rPr lang="en-US" sz="2182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Save Time and Money</a:t>
            </a:r>
            <a:endParaRPr lang="en-US" sz="2182" dirty="0"/>
          </a:p>
        </p:txBody>
      </p:sp>
      <p:sp>
        <p:nvSpPr>
          <p:cNvPr id="10" name="Shape 8"/>
          <p:cNvSpPr/>
          <p:nvPr/>
        </p:nvSpPr>
        <p:spPr>
          <a:xfrm>
            <a:off x="6289893" y="3245062"/>
            <a:ext cx="775930" cy="15128"/>
          </a:xfrm>
          <a:prstGeom prst="rect">
            <a:avLst/>
          </a:prstGeom>
          <a:solidFill>
            <a:srgbClr val="38512F"/>
          </a:solidFill>
          <a:ln/>
        </p:spPr>
      </p:sp>
      <p:sp>
        <p:nvSpPr>
          <p:cNvPr id="11" name="Shape 9"/>
          <p:cNvSpPr/>
          <p:nvPr/>
        </p:nvSpPr>
        <p:spPr>
          <a:xfrm>
            <a:off x="7065824" y="3005142"/>
            <a:ext cx="498753" cy="495086"/>
          </a:xfrm>
          <a:prstGeom prst="roundRect">
            <a:avLst>
              <a:gd name="adj" fmla="val 13435"/>
            </a:avLst>
          </a:prstGeom>
          <a:solidFill>
            <a:srgbClr val="F6E9D5"/>
          </a:solidFill>
          <a:ln/>
        </p:spPr>
      </p:sp>
      <p:sp>
        <p:nvSpPr>
          <p:cNvPr id="12" name="Text 10"/>
          <p:cNvSpPr/>
          <p:nvPr/>
        </p:nvSpPr>
        <p:spPr>
          <a:xfrm>
            <a:off x="7227510" y="3046389"/>
            <a:ext cx="175260" cy="41259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73"/>
              </a:lnSpc>
              <a:buNone/>
            </a:pPr>
            <a:r>
              <a:rPr lang="en-US" sz="2619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2619" dirty="0"/>
          </a:p>
        </p:txBody>
      </p:sp>
      <p:sp>
        <p:nvSpPr>
          <p:cNvPr id="13" name="Text 11"/>
          <p:cNvSpPr/>
          <p:nvPr/>
        </p:nvSpPr>
        <p:spPr>
          <a:xfrm>
            <a:off x="3581162" y="3053362"/>
            <a:ext cx="2514600" cy="34392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r">
              <a:lnSpc>
                <a:spcPts val="2728"/>
              </a:lnSpc>
              <a:buNone/>
            </a:pPr>
            <a:r>
              <a:rPr lang="en-US" sz="2182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Improved Accuracy</a:t>
            </a:r>
            <a:endParaRPr lang="en-US" sz="2182" dirty="0"/>
          </a:p>
        </p:txBody>
      </p:sp>
      <p:sp>
        <p:nvSpPr>
          <p:cNvPr id="14" name="Shape 12"/>
          <p:cNvSpPr/>
          <p:nvPr/>
        </p:nvSpPr>
        <p:spPr>
          <a:xfrm>
            <a:off x="7564576" y="4235351"/>
            <a:ext cx="775930" cy="15128"/>
          </a:xfrm>
          <a:prstGeom prst="rect">
            <a:avLst/>
          </a:prstGeom>
          <a:solidFill>
            <a:srgbClr val="38512F"/>
          </a:solidFill>
          <a:ln/>
        </p:spPr>
      </p:sp>
      <p:sp>
        <p:nvSpPr>
          <p:cNvPr id="15" name="Shape 13"/>
          <p:cNvSpPr/>
          <p:nvPr/>
        </p:nvSpPr>
        <p:spPr>
          <a:xfrm>
            <a:off x="7065824" y="3995431"/>
            <a:ext cx="498753" cy="495086"/>
          </a:xfrm>
          <a:prstGeom prst="roundRect">
            <a:avLst>
              <a:gd name="adj" fmla="val 13435"/>
            </a:avLst>
          </a:prstGeom>
          <a:solidFill>
            <a:srgbClr val="F6E9D5"/>
          </a:solidFill>
          <a:ln/>
        </p:spPr>
      </p:sp>
      <p:sp>
        <p:nvSpPr>
          <p:cNvPr id="16" name="Text 14"/>
          <p:cNvSpPr/>
          <p:nvPr/>
        </p:nvSpPr>
        <p:spPr>
          <a:xfrm>
            <a:off x="7223700" y="4036678"/>
            <a:ext cx="182880" cy="41259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73"/>
              </a:lnSpc>
              <a:buNone/>
            </a:pPr>
            <a:r>
              <a:rPr lang="en-US" sz="2619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2619" dirty="0"/>
          </a:p>
        </p:txBody>
      </p:sp>
      <p:sp>
        <p:nvSpPr>
          <p:cNvPr id="17" name="Text 15"/>
          <p:cNvSpPr/>
          <p:nvPr/>
        </p:nvSpPr>
        <p:spPr>
          <a:xfrm>
            <a:off x="8534638" y="4043651"/>
            <a:ext cx="2217063" cy="34392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28"/>
              </a:lnSpc>
              <a:buNone/>
            </a:pPr>
            <a:r>
              <a:rPr lang="en-US" sz="2182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Eco-Friendly</a:t>
            </a:r>
            <a:endParaRPr lang="en-US" sz="2182" dirty="0"/>
          </a:p>
        </p:txBody>
      </p:sp>
      <p:sp>
        <p:nvSpPr>
          <p:cNvPr id="18" name="Shape 16"/>
          <p:cNvSpPr/>
          <p:nvPr/>
        </p:nvSpPr>
        <p:spPr>
          <a:xfrm>
            <a:off x="6289893" y="5225758"/>
            <a:ext cx="775930" cy="15128"/>
          </a:xfrm>
          <a:prstGeom prst="rect">
            <a:avLst/>
          </a:prstGeom>
          <a:solidFill>
            <a:srgbClr val="38512F"/>
          </a:solidFill>
          <a:ln/>
        </p:spPr>
      </p:sp>
      <p:sp>
        <p:nvSpPr>
          <p:cNvPr id="19" name="Shape 17"/>
          <p:cNvSpPr/>
          <p:nvPr/>
        </p:nvSpPr>
        <p:spPr>
          <a:xfrm>
            <a:off x="7065824" y="4985838"/>
            <a:ext cx="498753" cy="495086"/>
          </a:xfrm>
          <a:prstGeom prst="roundRect">
            <a:avLst>
              <a:gd name="adj" fmla="val 13435"/>
            </a:avLst>
          </a:prstGeom>
          <a:solidFill>
            <a:srgbClr val="F6E9D5"/>
          </a:solidFill>
          <a:ln/>
        </p:spPr>
      </p:sp>
      <p:sp>
        <p:nvSpPr>
          <p:cNvPr id="20" name="Text 18"/>
          <p:cNvSpPr/>
          <p:nvPr/>
        </p:nvSpPr>
        <p:spPr>
          <a:xfrm>
            <a:off x="7223700" y="5027086"/>
            <a:ext cx="182880" cy="41259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73"/>
              </a:lnSpc>
              <a:buNone/>
            </a:pPr>
            <a:r>
              <a:rPr lang="en-US" sz="2619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</a:t>
            </a:r>
            <a:endParaRPr lang="en-US" sz="2619" dirty="0"/>
          </a:p>
        </p:txBody>
      </p:sp>
      <p:sp>
        <p:nvSpPr>
          <p:cNvPr id="21" name="Text 19"/>
          <p:cNvSpPr/>
          <p:nvPr/>
        </p:nvSpPr>
        <p:spPr>
          <a:xfrm>
            <a:off x="3878699" y="5034059"/>
            <a:ext cx="2217063" cy="34392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r">
              <a:lnSpc>
                <a:spcPts val="2728"/>
              </a:lnSpc>
              <a:buNone/>
            </a:pPr>
            <a:r>
              <a:rPr lang="en-US" sz="2182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Increased Yield</a:t>
            </a:r>
            <a:endParaRPr lang="en-US" sz="2182" dirty="0"/>
          </a:p>
        </p:txBody>
      </p:sp>
      <p:sp>
        <p:nvSpPr>
          <p:cNvPr id="22" name="Shape 20"/>
          <p:cNvSpPr/>
          <p:nvPr/>
        </p:nvSpPr>
        <p:spPr>
          <a:xfrm>
            <a:off x="7564576" y="6216166"/>
            <a:ext cx="775930" cy="15128"/>
          </a:xfrm>
          <a:prstGeom prst="rect">
            <a:avLst/>
          </a:prstGeom>
          <a:solidFill>
            <a:srgbClr val="38512F"/>
          </a:solidFill>
          <a:ln/>
        </p:spPr>
      </p:sp>
      <p:sp>
        <p:nvSpPr>
          <p:cNvPr id="23" name="Shape 21"/>
          <p:cNvSpPr/>
          <p:nvPr/>
        </p:nvSpPr>
        <p:spPr>
          <a:xfrm>
            <a:off x="7065824" y="5976246"/>
            <a:ext cx="498753" cy="495086"/>
          </a:xfrm>
          <a:prstGeom prst="roundRect">
            <a:avLst>
              <a:gd name="adj" fmla="val 13435"/>
            </a:avLst>
          </a:prstGeom>
          <a:solidFill>
            <a:srgbClr val="F6E9D5"/>
          </a:solidFill>
          <a:ln/>
        </p:spPr>
      </p:sp>
      <p:sp>
        <p:nvSpPr>
          <p:cNvPr id="24" name="Text 22"/>
          <p:cNvSpPr/>
          <p:nvPr/>
        </p:nvSpPr>
        <p:spPr>
          <a:xfrm>
            <a:off x="7223700" y="6017493"/>
            <a:ext cx="182880" cy="41259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73"/>
              </a:lnSpc>
              <a:buNone/>
            </a:pPr>
            <a:r>
              <a:rPr lang="en-US" sz="2619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5</a:t>
            </a:r>
            <a:endParaRPr lang="en-US" sz="2619" dirty="0"/>
          </a:p>
        </p:txBody>
      </p:sp>
      <p:sp>
        <p:nvSpPr>
          <p:cNvPr id="25" name="Text 23"/>
          <p:cNvSpPr/>
          <p:nvPr/>
        </p:nvSpPr>
        <p:spPr>
          <a:xfrm>
            <a:off x="8534638" y="6024466"/>
            <a:ext cx="3070860" cy="34392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28"/>
              </a:lnSpc>
              <a:buNone/>
            </a:pPr>
            <a:r>
              <a:rPr lang="en-US" sz="2182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Diminishes labour work</a:t>
            </a:r>
            <a:endParaRPr lang="en-US" sz="2182" dirty="0"/>
          </a:p>
        </p:txBody>
      </p:sp>
      <p:pic>
        <p:nvPicPr>
          <p:cNvPr id="26" name="Image 0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169088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sp>
        <p:nvSpPr>
          <p:cNvPr id="4" name="Text 2"/>
          <p:cNvSpPr/>
          <p:nvPr/>
        </p:nvSpPr>
        <p:spPr>
          <a:xfrm>
            <a:off x="885230" y="2286092"/>
            <a:ext cx="7373541" cy="14645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5809"/>
              </a:lnSpc>
              <a:buNone/>
            </a:pPr>
            <a:r>
              <a:rPr lang="en-US" sz="4647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Potential Impact on Agriculture Industry</a:t>
            </a:r>
            <a:endParaRPr lang="en-US" sz="4647" dirty="0"/>
          </a:p>
        </p:txBody>
      </p:sp>
      <p:sp>
        <p:nvSpPr>
          <p:cNvPr id="5" name="Text 3"/>
          <p:cNvSpPr/>
          <p:nvPr/>
        </p:nvSpPr>
        <p:spPr>
          <a:xfrm>
            <a:off x="1262896" y="4102154"/>
            <a:ext cx="6995874" cy="37488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342900" indent="-342900" algn="l">
              <a:lnSpc>
                <a:spcPts val="2974"/>
              </a:lnSpc>
              <a:buSzPct val="100000"/>
              <a:buChar char="•"/>
            </a:pPr>
            <a:r>
              <a:rPr lang="en-US" sz="1859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Sustainable solution to increase agricultural output</a:t>
            </a:r>
            <a:endParaRPr lang="en-US" sz="1859" dirty="0"/>
          </a:p>
        </p:txBody>
      </p:sp>
      <p:sp>
        <p:nvSpPr>
          <p:cNvPr id="6" name="Text 4"/>
          <p:cNvSpPr/>
          <p:nvPr/>
        </p:nvSpPr>
        <p:spPr>
          <a:xfrm>
            <a:off x="1262896" y="4570766"/>
            <a:ext cx="6995874" cy="37488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342900" indent="-342900" algn="l">
              <a:lnSpc>
                <a:spcPts val="2974"/>
              </a:lnSpc>
              <a:buSzPct val="100000"/>
              <a:buChar char="•"/>
            </a:pPr>
            <a:r>
              <a:rPr lang="en-US" sz="1859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Diminishes manual labour</a:t>
            </a:r>
            <a:endParaRPr lang="en-US" sz="1859" dirty="0"/>
          </a:p>
        </p:txBody>
      </p:sp>
      <p:sp>
        <p:nvSpPr>
          <p:cNvPr id="7" name="Text 5"/>
          <p:cNvSpPr/>
          <p:nvPr/>
        </p:nvSpPr>
        <p:spPr>
          <a:xfrm>
            <a:off x="1262896" y="5039377"/>
            <a:ext cx="6995874" cy="37488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342900" indent="-342900" algn="l">
              <a:lnSpc>
                <a:spcPts val="2974"/>
              </a:lnSpc>
              <a:buSzPct val="100000"/>
              <a:buChar char="•"/>
            </a:pPr>
            <a:r>
              <a:rPr lang="en-US" sz="1859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Reduces environmental impact</a:t>
            </a:r>
            <a:endParaRPr lang="en-US" sz="1859" dirty="0"/>
          </a:p>
        </p:txBody>
      </p:sp>
      <p:sp>
        <p:nvSpPr>
          <p:cNvPr id="8" name="Text 6"/>
          <p:cNvSpPr/>
          <p:nvPr/>
        </p:nvSpPr>
        <p:spPr>
          <a:xfrm>
            <a:off x="1262896" y="5507989"/>
            <a:ext cx="6995874" cy="37488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342900" indent="-342900" algn="l">
              <a:lnSpc>
                <a:spcPts val="2974"/>
              </a:lnSpc>
              <a:buSzPct val="100000"/>
              <a:buChar char="•"/>
            </a:pPr>
            <a:r>
              <a:rPr lang="en-US" sz="1859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Makes farming more efficient, cost-effective, and sustainable</a:t>
            </a:r>
            <a:endParaRPr lang="en-US" sz="1859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169088"/>
          </a:xfrm>
          <a:prstGeom prst="rect">
            <a:avLst/>
          </a:prstGeom>
        </p:spPr>
      </p:pic>
      <p:pic>
        <p:nvPicPr>
          <p:cNvPr id="10" name="Image 1" descr="preencoded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169088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sp>
        <p:nvSpPr>
          <p:cNvPr id="4" name="Text 2"/>
          <p:cNvSpPr/>
          <p:nvPr/>
        </p:nvSpPr>
        <p:spPr>
          <a:xfrm>
            <a:off x="782360" y="569543"/>
            <a:ext cx="13065681" cy="1294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5134"/>
              </a:lnSpc>
              <a:buNone/>
            </a:pPr>
            <a:r>
              <a:rPr lang="en-US" sz="4107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Working of Multipurpose Agriculture Machine in Hardware</a:t>
            </a:r>
            <a:endParaRPr lang="en-US" sz="4107" dirty="0"/>
          </a:p>
        </p:txBody>
      </p:sp>
      <p:sp>
        <p:nvSpPr>
          <p:cNvPr id="5" name="Text 3"/>
          <p:cNvSpPr/>
          <p:nvPr/>
        </p:nvSpPr>
        <p:spPr>
          <a:xfrm>
            <a:off x="782360" y="2174523"/>
            <a:ext cx="4518660" cy="51777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4107"/>
              </a:lnSpc>
              <a:buNone/>
            </a:pPr>
            <a:r>
              <a:rPr lang="en-US" sz="3286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Sensors and Navigation</a:t>
            </a:r>
            <a:endParaRPr lang="en-US" sz="3286" dirty="0"/>
          </a:p>
        </p:txBody>
      </p:sp>
      <p:sp>
        <p:nvSpPr>
          <p:cNvPr id="6" name="Text 4"/>
          <p:cNvSpPr/>
          <p:nvPr/>
        </p:nvSpPr>
        <p:spPr>
          <a:xfrm>
            <a:off x="782360" y="2926080"/>
            <a:ext cx="13065681" cy="98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9"/>
              </a:lnSpc>
              <a:buNone/>
            </a:pPr>
            <a:r>
              <a:rPr lang="en-US" sz="20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The machine is equipped with various sensors that detect soil moisture, temperature, and other important parameters. These sensors are used to generate a map of the farm that guides the machine's navigation.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82360" y="3976048"/>
            <a:ext cx="5120640" cy="51777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4107"/>
              </a:lnSpc>
              <a:buNone/>
            </a:pPr>
            <a:r>
              <a:rPr lang="en-US" sz="3286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Actuators and Implements</a:t>
            </a:r>
            <a:endParaRPr lang="en-US" sz="3286" dirty="0"/>
          </a:p>
        </p:txBody>
      </p:sp>
      <p:sp>
        <p:nvSpPr>
          <p:cNvPr id="8" name="Text 6"/>
          <p:cNvSpPr/>
          <p:nvPr/>
        </p:nvSpPr>
        <p:spPr>
          <a:xfrm>
            <a:off x="782360" y="4804421"/>
            <a:ext cx="13065681" cy="66255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9"/>
              </a:lnSpc>
              <a:buNone/>
            </a:pPr>
            <a:r>
              <a:rPr lang="en-US" sz="20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The machine is fitted with a range of implements that perform different tasks, such as plowing, seeding, and fertilizer application. These implements are controlled by actuators that are driven by hydraulic or electric power</a:t>
            </a:r>
            <a:r>
              <a:rPr lang="en-US" sz="1643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.</a:t>
            </a:r>
            <a:endParaRPr lang="en-US" sz="1643" dirty="0"/>
          </a:p>
        </p:txBody>
      </p:sp>
      <p:sp>
        <p:nvSpPr>
          <p:cNvPr id="9" name="Text 7"/>
          <p:cNvSpPr/>
          <p:nvPr/>
        </p:nvSpPr>
        <p:spPr>
          <a:xfrm>
            <a:off x="782360" y="5777573"/>
            <a:ext cx="3634740" cy="51777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4107"/>
              </a:lnSpc>
              <a:buNone/>
            </a:pPr>
            <a:r>
              <a:rPr lang="en-US" sz="3286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Power and Control</a:t>
            </a:r>
            <a:endParaRPr lang="en-US" sz="3286" dirty="0"/>
          </a:p>
        </p:txBody>
      </p:sp>
      <p:sp>
        <p:nvSpPr>
          <p:cNvPr id="10" name="Text 8"/>
          <p:cNvSpPr/>
          <p:nvPr/>
        </p:nvSpPr>
        <p:spPr>
          <a:xfrm>
            <a:off x="782360" y="6605946"/>
            <a:ext cx="13065681" cy="9938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9"/>
              </a:lnSpc>
              <a:buNone/>
            </a:pPr>
            <a:r>
              <a:rPr lang="en-US" sz="20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The machine is powered by an internal combustion engine or an electric motor, depending on the model. The engine or motor is connected to a set of hydraulics that provide power to the various actuators. The machine is controlled by a computer that receives input from the various sensors and implements.</a:t>
            </a:r>
            <a:endParaRPr lang="en-US" sz="2000" dirty="0"/>
          </a:p>
        </p:txBody>
      </p:sp>
      <p:pic>
        <p:nvPicPr>
          <p:cNvPr id="11" name="Image 0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169088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sp>
        <p:nvSpPr>
          <p:cNvPr id="4" name="Text 2"/>
          <p:cNvSpPr/>
          <p:nvPr/>
        </p:nvSpPr>
        <p:spPr>
          <a:xfrm>
            <a:off x="885230" y="670239"/>
            <a:ext cx="10294620" cy="73228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809"/>
              </a:lnSpc>
              <a:buNone/>
            </a:pPr>
            <a:r>
              <a:rPr lang="en-US" sz="4647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Conclusion and Future Developments</a:t>
            </a:r>
            <a:endParaRPr lang="en-US" sz="4647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230" y="1871137"/>
            <a:ext cx="4050506" cy="248488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85230" y="4648887"/>
            <a:ext cx="3855720" cy="36614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905"/>
              </a:lnSpc>
              <a:buNone/>
            </a:pPr>
            <a:r>
              <a:rPr lang="en-US" sz="2324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Staying Ahead in Innovation</a:t>
            </a:r>
            <a:endParaRPr lang="en-US" sz="2324" dirty="0"/>
          </a:p>
        </p:txBody>
      </p:sp>
      <p:sp>
        <p:nvSpPr>
          <p:cNvPr id="7" name="Text 4"/>
          <p:cNvSpPr/>
          <p:nvPr/>
        </p:nvSpPr>
        <p:spPr>
          <a:xfrm>
            <a:off x="885230" y="5249277"/>
            <a:ext cx="4050506" cy="11246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974"/>
              </a:lnSpc>
              <a:buNone/>
            </a:pPr>
            <a:r>
              <a:rPr lang="en-US" sz="1859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We aim to constantly upgrade our software and machine to stay ahead in the innovation game.</a:t>
            </a:r>
            <a:endParaRPr lang="en-US" sz="1859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9828" y="1871137"/>
            <a:ext cx="4050625" cy="248500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89828" y="4649005"/>
            <a:ext cx="2811780" cy="36614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905"/>
              </a:lnSpc>
              <a:buNone/>
            </a:pPr>
            <a:r>
              <a:rPr lang="en-US" sz="2324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Farmers Partnership</a:t>
            </a:r>
            <a:endParaRPr lang="en-US" sz="2324" dirty="0"/>
          </a:p>
        </p:txBody>
      </p:sp>
      <p:sp>
        <p:nvSpPr>
          <p:cNvPr id="10" name="Text 6"/>
          <p:cNvSpPr/>
          <p:nvPr/>
        </p:nvSpPr>
        <p:spPr>
          <a:xfrm>
            <a:off x="5289828" y="5249396"/>
            <a:ext cx="4050625" cy="149955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974"/>
              </a:lnSpc>
              <a:buNone/>
            </a:pPr>
            <a:r>
              <a:rPr lang="en-US" sz="1859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Our goal is to work closely with farmers and incorporate their feedback to create a more customized solution for their unique needs.</a:t>
            </a:r>
            <a:endParaRPr lang="en-US" sz="1859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4545" y="1871137"/>
            <a:ext cx="4050625" cy="248500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94545" y="4649005"/>
            <a:ext cx="2392680" cy="36614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905"/>
              </a:lnSpc>
              <a:buNone/>
            </a:pPr>
            <a:r>
              <a:rPr lang="en-US" sz="2324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 Greener Future</a:t>
            </a:r>
            <a:endParaRPr lang="en-US" sz="2324" dirty="0"/>
          </a:p>
        </p:txBody>
      </p:sp>
      <p:sp>
        <p:nvSpPr>
          <p:cNvPr id="13" name="Text 8"/>
          <p:cNvSpPr/>
          <p:nvPr/>
        </p:nvSpPr>
        <p:spPr>
          <a:xfrm>
            <a:off x="9694545" y="5249396"/>
            <a:ext cx="4050625" cy="2249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974"/>
              </a:lnSpc>
              <a:buNone/>
            </a:pPr>
            <a:r>
              <a:rPr lang="en-US" sz="1859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We envision sustainable and cost-efficient agriculture that can feed the world without harming the planet. Our machine and software solutions are the first steps of many towards a greener future.</a:t>
            </a:r>
            <a:endParaRPr lang="en-US" sz="1859" dirty="0"/>
          </a:p>
        </p:txBody>
      </p:sp>
      <p:pic>
        <p:nvPicPr>
          <p:cNvPr id="14" name="Image 3" descr="preencoded.png">
            <a:hlinkClick r:id="rId6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567</Words>
  <Application>Microsoft Office PowerPoint</Application>
  <PresentationFormat>Custom</PresentationFormat>
  <Paragraphs>81</Paragraphs>
  <Slides>11</Slides>
  <Notes>11</Notes>
  <HiddenSlides>0</HiddenSlides>
  <MMClips>2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Bahnschrift Condensed</vt:lpstr>
      <vt:lpstr>Calibri</vt:lpstr>
      <vt:lpstr>Felix Titling</vt:lpstr>
      <vt:lpstr>Lora</vt:lpstr>
      <vt:lpstr>Source Sans Pro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ATHARVA JOSHI</cp:lastModifiedBy>
  <cp:revision>7</cp:revision>
  <dcterms:created xsi:type="dcterms:W3CDTF">2023-08-02T18:23:06Z</dcterms:created>
  <dcterms:modified xsi:type="dcterms:W3CDTF">2023-11-23T05:55:48Z</dcterms:modified>
</cp:coreProperties>
</file>